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92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1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C I V I T A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1D5DB"/>
                </a:solidFill>
                <a:latin typeface="Calibri"/>
              </a:rPr>
              <a:t>Municipal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111827"/>
                </a:solidFill>
                <a:latin typeface="Calibri"/>
              </a:rPr>
              <a:t>Transaction-grade property intelligence
in minutes, not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CA3AF"/>
                </a:solidFill>
                <a:latin typeface="Calibri"/>
              </a:rPr>
              <a:t>Chicago v1  •  Built for real estate law firms &amp; title companies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Manual municipal due diligence is slow, fragmented, and error-prone.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Scattered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Law firms manually search 6+ city databases—violations, permits, inspections, tax liens, 311 complaints—each with different interfaces and formats.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No Unified Picture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08960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There is no single view connecting a property's violation history, permit status, tax standing, and complaint patterns. Critical context gets missed.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Missed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08960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Without systematic analysis, aged violations, recurring complaints, and tax lien patterns fall through the cracks—creating liability exposure.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The Cost of Inaction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What happens when due diligence gaps go unaddressed.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111827"/>
                </a:solidFill>
                <a:latin typeface="Calibri"/>
              </a:rPr>
              <a:t>4–6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  <a:latin typeface="Calibri"/>
              </a:rPr>
              <a:t>Average time per manual
municipal records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6060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111827"/>
                </a:solidFill>
                <a:latin typeface="Calibri"/>
              </a:rPr>
              <a:t>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  <a:latin typeface="Calibri"/>
              </a:rPr>
              <a:t>Of Chicago properties have
at least one open violation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86000"/>
            <a:ext cx="3108960" cy="201168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60604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111827"/>
                </a:solidFill>
                <a:latin typeface="Calibri"/>
              </a:rPr>
              <a:t>$50K+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429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  <a:latin typeface="Calibri"/>
              </a:rPr>
              <a:t>Potential liability from
undiscovered liens &amp; violations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300">
                <a:solidFill>
                  <a:srgbClr val="4B5563"/>
                </a:solidFill>
                <a:latin typeface="Calibri"/>
              </a:rPr>
              <a:t>Every missed violation or undisclosed lien is a potential post-closing dispute. Title companies and law firms bear the reputational and financial risk.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The Solution: CIVITAS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Automated municipal intelligence for real estate transactions.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Aggregates 6 municipal &amp; tax datasets into a unified property profile</a:t>
            </a:r>
          </a:p>
          <a:p>
            <a:pPr>
              <a:lnSpc>
                <a:spcPts val="2600"/>
              </a:lnSpc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Applies 15 deterministic, auditable rules across 4 action categories</a:t>
            </a:r>
          </a:p>
          <a:p>
            <a:pPr>
              <a:lnSpc>
                <a:spcPts val="2600"/>
              </a:lnSpc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Computes transparent, weighted activity scores with full citation</a:t>
            </a:r>
          </a:p>
          <a:p>
            <a:pPr>
              <a:lnSpc>
                <a:spcPts val="2600"/>
              </a:lnSpc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Generates AI-narrated executive summaries grounded in structured data</a:t>
            </a:r>
          </a:p>
          <a:p>
            <a:pPr>
              <a:lnSpc>
                <a:spcPts val="2600"/>
              </a:lnSpc>
              <a:spcAft>
                <a:spcPts val="1000"/>
              </a:spcAft>
            </a:pPr>
            <a:r>
              <a:rPr sz="1500">
                <a:solidFill>
                  <a:srgbClr val="4B5563"/>
                </a:solidFill>
                <a:latin typeface="Calibri"/>
              </a:rPr>
              <a:t>•  Delivers professional PDF reports in under 60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286000" y="2560320"/>
            <a:ext cx="640080" cy="640080"/>
          </a:xfrm>
          <a:prstGeom prst="ellipse">
            <a:avLst/>
          </a:prstGeom>
          <a:solidFill>
            <a:srgbClr val="1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Enter Address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3703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9CA3AF"/>
                </a:solidFill>
                <a:latin typeface="Calibri"/>
              </a:rPr>
              <a:t>Type a Chicago address or PIN.
6-tier resolution matches
to canonical records.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2743200"/>
            <a:ext cx="640080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303520" y="2560320"/>
            <a:ext cx="640080" cy="640080"/>
          </a:xfrm>
          <a:prstGeom prst="ellipse">
            <a:avLst/>
          </a:prstGeom>
          <a:solidFill>
            <a:srgbClr val="1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Automated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703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9CA3AF"/>
                </a:solidFill>
                <a:latin typeface="Calibri"/>
              </a:rPr>
              <a:t>SQL rule engine evaluates
15 rules across 6 datasets
instantly.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58000" y="2743200"/>
            <a:ext cx="640080" cy="274320"/>
          </a:xfrm>
          <a:prstGeom prst="rightArrow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321040" y="2560320"/>
            <a:ext cx="640080" cy="640080"/>
          </a:xfrm>
          <a:prstGeom prst="ellipse">
            <a:avLst/>
          </a:prstGeom>
          <a:solidFill>
            <a:srgbClr val="1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37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Property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703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9CA3AF"/>
                </a:solidFill>
                <a:latin typeface="Calibri"/>
              </a:rPr>
              <a:t>Scored report with findings,
supporting records, AI
narrative, and PDF export.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Every finding is deterministic and citable. Claude AI interprets structured results—it never invents findings or computes scores.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Activity Scoring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Weighted, additive, and fully transparent.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31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0 –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31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B5563"/>
                </a:solidFill>
                <a:latin typeface="Calibri"/>
              </a:rPr>
              <a:t>No active 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TYPICAL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108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25 –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B5563"/>
                </a:solidFill>
                <a:latin typeface="Calibri"/>
              </a:rPr>
              <a:t>Minor compliance 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4048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886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50 – 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886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B5563"/>
                </a:solidFill>
                <a:latin typeface="Calibri"/>
              </a:rPr>
              <a:t>Notable municipal activity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1772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1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COMPLEX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663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75+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663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B5563"/>
                </a:solidFill>
                <a:latin typeface="Calibri"/>
              </a:rPr>
              <a:t>Multiple findings requiring attention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103120"/>
            <a:ext cx="3200400" cy="32004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4 Action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606039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Action Required — Tax &amp; financial (25–40 pts)
Review Recommended — Enforcement (20–35 pts)
Worth Noting — Compliance (15–20 pts)
Informational — Regulatory friction (10–15 pts)
15 rules total • Configurable weights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Report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Everything a closing attorney needs in one document.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Activity score, level, triggered
findings, and AI-generated overview.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Findings by Action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974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Action Required, Review Recommended,
Worth Noting, Informational.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9456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Supporting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6974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Violations, inspections, permits,
311 requests, tax liens—sortable tables.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AI Narrative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0915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Claude interprets findings in legally
cautious, citation-backed language.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0624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PDF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0915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Professional report ready to attach
to closing files or send to clients.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20624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Legal Disclaimer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70915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Clear statement that CIVITAS does
not replace formal title examination.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Six authoritative Chicago datasets power every report.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Building Violations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Dept. of Buildings enforcement
actions and compliance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Food Inspections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175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Health dept. inspection results
and pass/fail/conditional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9456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97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Building Permits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Active, completed, and delayed
permit applications and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91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311 Service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292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13.4M+ citizen complaints
including building and sanitation.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0624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7091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Tax Liens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0292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Cook County Clerk records
of delinquent property tax liens.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06240"/>
            <a:ext cx="3291840" cy="16459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4343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7091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1827"/>
                </a:solidFill>
                <a:latin typeface="Calibri"/>
              </a:rPr>
              <a:t>Vacant Buildings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02920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100">
                <a:solidFill>
                  <a:srgbClr val="4B5563"/>
                </a:solidFill>
                <a:latin typeface="Calibri"/>
              </a:rPr>
              <a:t>Registered vacant/abandoned
buildings on the Chicago Data Portal.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Portfolio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Analyze entire portfolios at once with batch CSV upload.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CSV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Upload a list of addresses.
Each property is analyzed
against all 15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Live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08960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Server-sent events stream
real-time status as each
property is processed.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Summary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08960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Average activity score, level
distribution chart, and
per-property drill-down.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300">
                <a:solidFill>
                  <a:srgbClr val="4B5563"/>
                </a:solidFill>
                <a:latin typeface="Calibri"/>
              </a:rPr>
              <a:t>Ideal for acquisition teams evaluating multiple properties in a single transaction.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Report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Track changes over time with side-by-side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Score Delta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See how a property's activity score
has changed between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Findings Diff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08960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Findings only in Report A, shared
findings, and findings only in Report 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8600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1D5DB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Record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08960"/>
            <a:ext cx="2926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Compare violation, inspection,
permit, and lien counts over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sz="1300">
                <a:solidFill>
                  <a:srgbClr val="4B5563"/>
                </a:solidFill>
                <a:latin typeface="Calibri"/>
              </a:rPr>
              <a:t>Monitor properties on your watchlist and catch emerging issues before closing.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Why CIVITAS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Purpose-built for transactional due diligence.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Deterministic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47548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Every finding is computed by SQL rules—never AI-guessed. Results are reproducible and auditable.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Transparent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97480"/>
            <a:ext cx="47548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Every triggered finding includes a description, weight, and the supporting records that caused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Legally Cautious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47548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AI narratives avoid speculation, predictions, and legal advice. Clear disclaimers on every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8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Calibri"/>
              </a:rPr>
              <a:t>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17720"/>
            <a:ext cx="475487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Full property analysis in under 60 seconds. Batch portfolios processed with real-time streaming progress.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Calibri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9CA3AF"/>
                </a:solidFill>
                <a:latin typeface="Calibri"/>
              </a:rPr>
              <a:t>Simple, transparent plans that scale with your practice.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Calibri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$99/mo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•  10 reports per month
•  Full activity scoring &amp; PDF export
•  AI narrative summaries
•  Email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1F25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Professional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$249/mo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sz="1200">
                <a:solidFill>
                  <a:srgbClr val="D1D5DB"/>
                </a:solidFill>
                <a:latin typeface="Calibri"/>
              </a:rPr>
              <a:t>•  50 reports per month
•  Batch portfolio upload
•  Report comparison
•  Priority email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94560"/>
            <a:ext cx="3291840" cy="34747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Calibri"/>
              </a:rP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2743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sz="1200">
                <a:solidFill>
                  <a:srgbClr val="4B5563"/>
                </a:solidFill>
                <a:latin typeface="Calibri"/>
              </a:rPr>
              <a:t>•  Unlimited reports
•  API access &amp; integrations
•  Dedicated account manager
•  Custom rule configuration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011680"/>
            <a:ext cx="1280160" cy="256032"/>
          </a:xfrm>
          <a:prstGeom prst="roundRect">
            <a:avLst>
              <a:gd name="adj" fmla="val 4000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POPULAR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C I V I T A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D1D5DB"/>
                </a:solidFill>
                <a:latin typeface="Calibri"/>
              </a:rPr>
              <a:t>Municipal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Request 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CA3AF"/>
                </a:solidFill>
                <a:latin typeface="Calibri"/>
              </a:rPr>
              <a:t>contact@civitas.ai  •  civitas.ai</a:t>
            </a:r>
          </a:p>
          <a:p>
            <a:pPr algn="ctr">
              <a:spcBef>
                <a:spcPts val="800"/>
              </a:spcBef>
            </a:pPr>
            <a:r>
              <a:rPr sz="1100">
                <a:solidFill>
                  <a:srgbClr val="9CA3AF"/>
                </a:solidFill>
                <a:latin typeface="Calibri"/>
              </a:rPr>
              <a:t>Chicago v1  •  Deterministic  •  Transparent  •  Legally Cautious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172200"/>
            <a:ext cx="1106424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CA3AF"/>
                </a:solidFill>
                <a:latin typeface="Calibri"/>
              </a:rPr>
              <a:t>CIVITAS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9CA3A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1003</Words>
  <Application>Microsoft Office PowerPoint</Application>
  <PresentationFormat>Widescreen</PresentationFormat>
  <Paragraphs>168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Bill</cp:lastModifiedBy>
  <cp:revision>2</cp:revision>
  <dcterms:created xsi:type="dcterms:W3CDTF">2013-01-27T09:14:16Z</dcterms:created>
  <dcterms:modified xsi:type="dcterms:W3CDTF">2026-03-08T04:19:34Z</dcterms:modified>
  <cp:category/>
</cp:coreProperties>
</file>
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705432" cy="3108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05432" y="0"/>
            <a:ext cx="5486262" cy="3108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Calibri"/>
              </a:rPr>
              <a:t>C I V I T A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E0E7FF"/>
                </a:solidFill>
                <a:latin typeface="Calibri"/>
              </a:rPr>
              <a:t>Municipal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111827"/>
                </a:solidFill>
                <a:latin typeface="Calibri"/>
              </a:rPr>
              <a:t>Transaction-grade property intelligence
in minutes, not days.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B7280"/>
                </a:solidFill>
                <a:latin typeface="Calibri"/>
              </a:rPr>
              <a:t>Chicago v1  •  Built for real estate law firms &amp; title companies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CIVITAS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63500"/>
          </a:xfrm>
          <a:prstGeom prst="rect">
            <a:avLst/>
          </a:prstGeom>
          <a:solidFill>
            <a:srgbClr val="F4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B7280"/>
                </a:solidFill>
                <a:latin typeface="Calibri"/>
              </a:rPr>
              <a:t>Manual municipal due diligence is slow, fragmented, and error-prone.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329184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3291840" cy="50800"/>
          </a:xfrm>
          <a:prstGeom prst="rect">
            <a:avLst/>
          </a:prstGeom>
          <a:solidFill>
            <a:srgbClr val="F4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Scattered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43200"/>
            <a:ext cx="292608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Law firms manually search 6+ city databases—violations, permits, inspections, tax liens, 311 complaints—each with different interfaces and formats.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94560"/>
            <a:ext cx="329184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194560"/>
            <a:ext cx="3291840" cy="50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377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No Unified Picture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43200"/>
            <a:ext cx="292608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There is no single view connecting a property's violation history, permit status, tax standing, and complaint patterns. Critical context gets missed.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194560"/>
            <a:ext cx="329184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194560"/>
            <a:ext cx="3291840" cy="508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377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Missed Findings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743200"/>
            <a:ext cx="292608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Without systematic analysis, aged violations, recurring complaints, and tax lien patterns fall through the cracks—creating liability exposure.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CIVITAS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F4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  <a:latin typeface="Calibri"/>
              </a:rPr>
              <a:t>The Cost of Inaction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B7280"/>
                </a:solidFill>
                <a:latin typeface="Calibri"/>
              </a:rPr>
              <a:t>What happens when due diligence gaps go unaddressed.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29260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1640" y="2331720"/>
            <a:ext cx="457200" cy="457200"/>
          </a:xfrm>
          <a:prstGeom prst="ellipse">
            <a:avLst/>
          </a:prstGeom>
          <a:solidFill>
            <a:srgbClr val="F4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834639"/>
            <a:ext cx="2926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11827"/>
                </a:solidFill>
                <a:latin typeface="Calibri"/>
              </a:rPr>
              <a:t>4–6 hrs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Calibri"/>
              </a:rPr>
              <a:t>Average time per manual
municipal records 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94560"/>
            <a:ext cx="29260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23560" y="2331720"/>
            <a:ext cx="457200" cy="4572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834639"/>
            <a:ext cx="2926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11827"/>
                </a:solidFill>
                <a:latin typeface="Calibri"/>
              </a:rPr>
              <a:t>23%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4290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Calibri"/>
              </a:rPr>
              <a:t>Of Chicago properties have
at least one open violation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194560"/>
            <a:ext cx="29260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55480" y="2331720"/>
            <a:ext cx="457200" cy="45720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834639"/>
            <a:ext cx="2926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11827"/>
                </a:solidFill>
                <a:latin typeface="Calibri"/>
              </a:rPr>
              <a:t>$50K+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4290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Calibri"/>
              </a:rPr>
              <a:t>Potential liability from
undiscovered liens &amp; violations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720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sz="1400">
                <a:solidFill>
                  <a:srgbClr val="374151"/>
                </a:solidFill>
                <a:latin typeface="Calibri"/>
              </a:rPr>
              <a:t>Every missed violation or undisclosed lien is a potential post-closing dispute. Title companies and law firms bear the reputational and financial risk.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CIVITAS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  <a:latin typeface="Calibri"/>
              </a:rPr>
              <a:t>The Solution: CIVITAS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B7280"/>
                </a:solidFill>
                <a:latin typeface="Calibri"/>
              </a:rPr>
              <a:t>Automated municipal intelligence for real estate transactions.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600">
                <a:solidFill>
                  <a:srgbClr val="374151"/>
                </a:solidFill>
                <a:latin typeface="Calibri"/>
              </a:rPr>
              <a:t>•  Aggregates 6 municipal &amp; tax datasets into a unified property profile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600">
                <a:solidFill>
                  <a:srgbClr val="374151"/>
                </a:solidFill>
                <a:latin typeface="Calibri"/>
              </a:rPr>
              <a:t>•  Applies 15 deterministic, auditable rules across 4 action categories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600">
                <a:solidFill>
                  <a:srgbClr val="374151"/>
                </a:solidFill>
                <a:latin typeface="Calibri"/>
              </a:rPr>
              <a:t>•  Computes transparent, weighted activity scores with full citation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600">
                <a:solidFill>
                  <a:srgbClr val="374151"/>
                </a:solidFill>
                <a:latin typeface="Calibri"/>
              </a:rPr>
              <a:t>•  Generates AI-narrated executive summaries grounded in structured data</a:t>
            </a:r>
          </a:p>
          <a:p>
            <a:pPr>
              <a:lnSpc>
                <a:spcPts val="2400"/>
              </a:lnSpc>
              <a:spcAft>
                <a:spcPts val="800"/>
              </a:spcAft>
            </a:pPr>
            <a:r>
              <a:rPr sz="1600">
                <a:solidFill>
                  <a:srgbClr val="374151"/>
                </a:solidFill>
                <a:latin typeface="Calibri"/>
              </a:rPr>
              <a:t>•  Delivers professional PDF reports in under 60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CIVITAS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B7280"/>
                </a:solidFill>
                <a:latin typeface="Calibri"/>
              </a:rPr>
              <a:t>From address to actionable intelligence in three steps.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2560320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3375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Calibri"/>
              </a:rPr>
              <a:t>Enter Address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37033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Calibri"/>
              </a:rPr>
              <a:t>Type a Chicago address or PIN.
6-tier resolution matches
to canonical records.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40480" y="2743200"/>
            <a:ext cx="731520" cy="32004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303520" y="2560320"/>
            <a:ext cx="640080" cy="64008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3375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Calibri"/>
              </a:rPr>
              <a:t>Automated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37033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Calibri"/>
              </a:rPr>
              <a:t>SQL rule engine evaluates
15 rules across 6 datasets
instantly.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858000" y="2743200"/>
            <a:ext cx="731520" cy="32004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21040" y="2560320"/>
            <a:ext cx="640080" cy="6400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3375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Calibri"/>
              </a:rPr>
              <a:t>Property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37033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Calibri"/>
              </a:rPr>
              <a:t>Scored report with findings,
supporting records, AI
narrative, and PDF export.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Every finding is deterministic and citable. Claude AI interprets structured results—it never invents findings or computes scores.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CIVITAS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  <a:latin typeface="Calibri"/>
              </a:rPr>
              <a:t>Activity Scoring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B7280"/>
                </a:solidFill>
                <a:latin typeface="Calibri"/>
              </a:rPr>
              <a:t>Weighted, additive, and fully transparent.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1463040" cy="411480"/>
          </a:xfrm>
          <a:prstGeom prst="roundRect">
            <a:avLst>
              <a:gd name="adj" fmla="val 4000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QUIET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3317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0 –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3317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74151"/>
                </a:solidFill>
                <a:latin typeface="Calibri"/>
              </a:rPr>
              <a:t>No active findings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063240"/>
            <a:ext cx="1463040" cy="411480"/>
          </a:xfrm>
          <a:prstGeom prst="roundRect">
            <a:avLst>
              <a:gd name="adj" fmla="val 40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TYPICAL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1089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25 – 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1089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74151"/>
                </a:solidFill>
                <a:latin typeface="Calibri"/>
              </a:rPr>
              <a:t>Minor compliance items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40480"/>
            <a:ext cx="1463040" cy="41148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8862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50 – 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8862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74151"/>
                </a:solidFill>
                <a:latin typeface="Calibri"/>
              </a:rPr>
              <a:t>Notable municipal activity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617720"/>
            <a:ext cx="1463040" cy="411480"/>
          </a:xfrm>
          <a:prstGeom prst="roundRect">
            <a:avLst>
              <a:gd name="adj" fmla="val 40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COMPLEX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6634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75+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6634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74151"/>
                </a:solidFill>
                <a:latin typeface="Calibri"/>
              </a:rPr>
              <a:t>Multiple findings requiring attention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2103120"/>
            <a:ext cx="32004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2103120"/>
            <a:ext cx="3200400" cy="508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41080" y="22860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4 Action Groups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651760"/>
            <a:ext cx="2834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200">
                <a:solidFill>
                  <a:srgbClr val="374151"/>
                </a:solidFill>
                <a:latin typeface="Calibri"/>
              </a:rPr>
              <a:t>Action Required — Tax &amp; financial (25–40 pts)
Review Recommended — Enforcement (20–35 pts)
Worth Noting — Compliance (15–20 pts)
Informational — Regulatory friction (10–15 pts)
15 rules total • Configurable weights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CIVITAS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  <a:latin typeface="Calibri"/>
              </a:rPr>
              <a:t>Report Deep-Dive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B7280"/>
                </a:solidFill>
                <a:latin typeface="Calibri"/>
              </a:rPr>
              <a:t>Everything a closing attorney needs in one document.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32918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Calibri"/>
              </a:rP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200">
                <a:solidFill>
                  <a:srgbClr val="374151"/>
                </a:solidFill>
                <a:latin typeface="Calibri"/>
              </a:rPr>
              <a:t>Activity score, level, triggered
findings, and AI-generated overview.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0312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103120"/>
            <a:ext cx="329184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Calibri"/>
              </a:rPr>
              <a:t>Findings by Action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651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200">
                <a:solidFill>
                  <a:srgbClr val="374151"/>
                </a:solidFill>
                <a:latin typeface="Calibri"/>
              </a:rPr>
              <a:t>Action Required, Review Recommended,
Worth Noting, Informational.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10312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103120"/>
            <a:ext cx="32918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Calibri"/>
              </a:rPr>
              <a:t>Supporting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651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200">
                <a:solidFill>
                  <a:srgbClr val="374151"/>
                </a:solidFill>
                <a:latin typeface="Calibri"/>
              </a:rPr>
              <a:t>Violations, inspections, permits,
311 requests, tax liens—sortable tables.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206240"/>
            <a:ext cx="3291840" cy="50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Calibri"/>
              </a:rPr>
              <a:t>AI Narrative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754879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200">
                <a:solidFill>
                  <a:srgbClr val="374151"/>
                </a:solidFill>
                <a:latin typeface="Calibri"/>
              </a:rPr>
              <a:t>Claude interprets findings in legally
cautious, citation-backed language.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420624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4206240"/>
            <a:ext cx="3291840" cy="50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Calibri"/>
              </a:rPr>
              <a:t>PDF Export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754879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200">
                <a:solidFill>
                  <a:srgbClr val="374151"/>
                </a:solidFill>
                <a:latin typeface="Calibri"/>
              </a:rPr>
              <a:t>Professional report ready to attach
to closing files or send to clients.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20624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4206240"/>
            <a:ext cx="3291840" cy="508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Calibri"/>
              </a:rPr>
              <a:t>Legal Disclaimer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754879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200">
                <a:solidFill>
                  <a:srgbClr val="374151"/>
                </a:solidFill>
                <a:latin typeface="Calibri"/>
              </a:rPr>
              <a:t>Clear statement that CIVITAS does
not replace formal title examination.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CIVITAS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  <a:latin typeface="Calibri"/>
              </a:rPr>
              <a:t>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B7280"/>
                </a:solidFill>
                <a:latin typeface="Calibri"/>
              </a:rPr>
              <a:t>Six authoritative Chicago datasets power every report.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3291840" cy="50800"/>
          </a:xfrm>
          <a:prstGeom prst="rect">
            <a:avLst/>
          </a:prstGeom>
          <a:solidFill>
            <a:srgbClr val="F4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Calibri"/>
              </a:rPr>
              <a:t>Building Violations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200">
                <a:solidFill>
                  <a:srgbClr val="374151"/>
                </a:solidFill>
                <a:latin typeface="Calibri"/>
              </a:rPr>
              <a:t>Dept. of Buildings enforcement
actions and compliance orders.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103120"/>
            <a:ext cx="32918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Calibri"/>
              </a:rPr>
              <a:t>Food Inspections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651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200">
                <a:solidFill>
                  <a:srgbClr val="374151"/>
                </a:solidFill>
                <a:latin typeface="Calibri"/>
              </a:rPr>
              <a:t>Health dept. inspection results
and pass/fail/conditional outcomes.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0312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2103120"/>
            <a:ext cx="32918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Calibri"/>
              </a:rPr>
              <a:t>Building Permits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651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200">
                <a:solidFill>
                  <a:srgbClr val="374151"/>
                </a:solidFill>
                <a:latin typeface="Calibri"/>
              </a:rPr>
              <a:t>Active, completed, and delayed
permit applications and status.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0624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206240"/>
            <a:ext cx="3291840" cy="50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Calibri"/>
              </a:rPr>
              <a:t>311 Service Requests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754879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200">
                <a:solidFill>
                  <a:srgbClr val="374151"/>
                </a:solidFill>
                <a:latin typeface="Calibri"/>
              </a:rPr>
              <a:t>13.4M+ citizen complaints
including building and sanitation.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20624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4206240"/>
            <a:ext cx="3291840" cy="508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Calibri"/>
              </a:rPr>
              <a:t>Tax Liens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4754879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200">
                <a:solidFill>
                  <a:srgbClr val="374151"/>
                </a:solidFill>
                <a:latin typeface="Calibri"/>
              </a:rPr>
              <a:t>Cook County Clerk records
of delinquent property tax liens.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20624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4206240"/>
            <a:ext cx="329184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11827"/>
                </a:solidFill>
                <a:latin typeface="Calibri"/>
              </a:rPr>
              <a:t>Vacant Buildings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4754879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200">
                <a:solidFill>
                  <a:srgbClr val="374151"/>
                </a:solidFill>
                <a:latin typeface="Calibri"/>
              </a:rPr>
              <a:t>Registered vacant/abandoned
buildings on the Chicago Data Portal.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CIVITAS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  <a:latin typeface="Calibri"/>
              </a:rPr>
              <a:t>Portfolio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B7280"/>
                </a:solidFill>
                <a:latin typeface="Calibri"/>
              </a:rPr>
              <a:t>Analyze entire portfolios at once with batch CSV upload.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329184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CSV 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432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Upload a list of addresses.
Each property is analyzed
against all 15 rules.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9456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194560"/>
            <a:ext cx="32918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377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Live Progress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Server-sent events stream
real-time status as each
property is processed.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9456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2194560"/>
            <a:ext cx="32918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2377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Summary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7432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Average activity score, level
distribution chart, and
per-property drill-down.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sz="1400">
                <a:solidFill>
                  <a:srgbClr val="374151"/>
                </a:solidFill>
                <a:latin typeface="Calibri"/>
              </a:rPr>
              <a:t>Ideal for acquisition teams evaluating multiple properties in a single transaction.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CIVITAS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  <a:latin typeface="Calibri"/>
              </a:rPr>
              <a:t>Report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B7280"/>
                </a:solidFill>
                <a:latin typeface="Calibri"/>
              </a:rPr>
              <a:t>Track changes over time with side-by-side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32918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Score Delta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432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See how a property's activity score
has changed between reports.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9456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194560"/>
            <a:ext cx="329184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377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Findings Diff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Findings only in Report A, shared
findings, and findings only in Report 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9456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2194560"/>
            <a:ext cx="3291840" cy="50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2377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Record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7432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Compare violation, inspection,
permit, and lien counts over time.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sz="1400">
                <a:solidFill>
                  <a:srgbClr val="374151"/>
                </a:solidFill>
                <a:latin typeface="Calibri"/>
              </a:rPr>
              <a:t>Monitor properties on your watchlist and catch emerging issues before closing.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CIVITAS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  <a:latin typeface="Calibri"/>
              </a:rPr>
              <a:t>Why CIVITAS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B7280"/>
                </a:solidFill>
                <a:latin typeface="Calibri"/>
              </a:rPr>
              <a:t>Purpose-built for transactional due diligence.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5120640" cy="50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Deterministic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47548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Every finding is computed by SQL rules—never AI-guessed. Results are reproducible and auditable.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103120"/>
            <a:ext cx="51206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86000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Transparent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651760"/>
            <a:ext cx="47548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Every triggered finding includes a description, weight, and the supporting records that caused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114800"/>
            <a:ext cx="512064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97680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Legally Cautious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47548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AI narratives avoid speculation, predictions, and legal advice. Clear disclaimers on every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11480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114800"/>
            <a:ext cx="5120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97680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Fast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663440"/>
            <a:ext cx="47548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Full property analysis in under 60 seconds. Batch portfolios processed with real-time streaming progress.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CIVITAS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11827"/>
                </a:solidFill>
                <a:latin typeface="Calibri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B7280"/>
                </a:solidFill>
                <a:latin typeface="Calibri"/>
              </a:rPr>
              <a:t>Simple, transparent plans that scale with your practice.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3291840" cy="508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6B7280"/>
                </a:solidFill>
                <a:latin typeface="Calibri"/>
              </a:rPr>
              <a:t>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Calibri"/>
              </a:rPr>
              <a:t>$99/mo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743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•  10 reports per month
•  Full activity scoring &amp; PDF export
•  AI narrative summaries
•  Email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0312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103120"/>
            <a:ext cx="329184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2860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7C3AED"/>
                </a:solidFill>
                <a:latin typeface="Calibri"/>
              </a:rPr>
              <a:t>Professional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Calibri"/>
              </a:rPr>
              <a:t>$249/mo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291840"/>
            <a:ext cx="2743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•  50 reports per month
•  Batch portfolio upload
•  Report comparison
•  Priority email support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10312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103120"/>
            <a:ext cx="32918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2860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D9488"/>
                </a:solidFill>
                <a:latin typeface="Calibri"/>
              </a:rPr>
              <a:t>Enterprise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6517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Calibri"/>
              </a:rPr>
              <a:t>Custom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291840"/>
            <a:ext cx="2743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sz="1300">
                <a:solidFill>
                  <a:srgbClr val="374151"/>
                </a:solidFill>
                <a:latin typeface="Calibri"/>
              </a:rPr>
              <a:t>•  Unlimited reports
•  API access &amp; integrations
•  Dedicated account manager
•  Custom rule configuration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1920240"/>
            <a:ext cx="1280160" cy="27432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POPULAR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CIVITAS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4114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4114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C I V I T A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E0E7FF"/>
                </a:solidFill>
                <a:latin typeface="Calibri"/>
              </a:rPr>
              <a:t>Municipal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Request a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6B7280"/>
                </a:solidFill>
                <a:latin typeface="Calibri"/>
              </a:rPr>
              <a:t>contact@civitas.ai  •  civitas.ai</a:t>
            </a:r>
          </a:p>
          <a:p>
            <a:pPr algn="ctr">
              <a:spcBef>
                <a:spcPts val="800"/>
              </a:spcBef>
            </a:pPr>
            <a:r>
              <a:rPr sz="1200">
                <a:solidFill>
                  <a:srgbClr val="6B7280"/>
                </a:solidFill>
                <a:latin typeface="Calibri"/>
              </a:rPr>
              <a:t>Chicago v1  •  Deterministic  •  Transparent  •  Legally Cautious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CIVITAS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